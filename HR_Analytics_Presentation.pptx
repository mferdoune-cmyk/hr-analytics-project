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D6A8DF-216D-4117-A30C-55D64310D0FB}" type="datetimeFigureOut">
              <a:rPr lang="en-IN" smtClean="0"/>
              <a:t>28-05-2026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252D5F9-529E-4787-9913-D782E04CA636}"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7830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D6A8DF-216D-4117-A30C-55D64310D0FB}"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52D5F9-529E-4787-9913-D782E04CA636}"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14860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D6A8DF-216D-4117-A30C-55D64310D0FB}"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52D5F9-529E-4787-9913-D782E04CA636}"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44205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D6A8DF-216D-4117-A30C-55D64310D0FB}"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52D5F9-529E-4787-9913-D782E04CA636}"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92713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D6A8DF-216D-4117-A30C-55D64310D0FB}" type="datetimeFigureOut">
              <a:rPr lang="en-IN" smtClean="0"/>
              <a:t>28-05-2026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52D5F9-529E-4787-9913-D782E04CA636}"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04462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D6A8DF-216D-4117-A30C-55D64310D0FB}" type="datetimeFigureOut">
              <a:rPr lang="en-IN" smtClean="0"/>
              <a:t>28-05-2026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52D5F9-529E-4787-9913-D782E04CA636}"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9618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D6A8DF-216D-4117-A30C-55D64310D0FB}" type="datetimeFigureOut">
              <a:rPr lang="en-IN" smtClean="0"/>
              <a:t>28-05-2026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52D5F9-529E-4787-9913-D782E04CA636}" type="slidenum">
              <a:rPr lang="en-IN" smtClean="0"/>
              <a:t>‹#›</a:t>
            </a:fld>
            <a:endParaRPr lang="en-IN"/>
          </a:p>
        </p:txBody>
      </p:sp>
    </p:spTree>
    <p:extLst>
      <p:ext uri="{BB962C8B-B14F-4D97-AF65-F5344CB8AC3E}">
        <p14:creationId xmlns:p14="http://schemas.microsoft.com/office/powerpoint/2010/main" val="3789952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D6A8DF-216D-4117-A30C-55D64310D0FB}"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52D5F9-529E-4787-9913-D782E04CA636}"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62937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1D6A8DF-216D-4117-A30C-55D64310D0FB}" type="datetimeFigureOut">
              <a:rPr lang="en-IN" smtClean="0"/>
              <a:t>28-05-2026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252D5F9-529E-4787-9913-D782E04CA636}"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91720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D6A8DF-216D-4117-A30C-55D64310D0FB}"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52D5F9-529E-4787-9913-D782E04CA636}"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13632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D6A8DF-216D-4117-A30C-55D64310D0FB}"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52D5F9-529E-4787-9913-D782E04CA636}"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24192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1D6A8DF-216D-4117-A30C-55D64310D0FB}" type="datetimeFigureOut">
              <a:rPr lang="en-IN" smtClean="0"/>
              <a:t>28-05-2026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252D5F9-529E-4787-9913-D782E04CA636}"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4138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C0C6DC-C9E9-40EF-948E-3C46559F2494}"/>
              </a:ext>
            </a:extLst>
          </p:cNvPr>
          <p:cNvSpPr txBox="1"/>
          <p:nvPr/>
        </p:nvSpPr>
        <p:spPr>
          <a:xfrm>
            <a:off x="2636045" y="485776"/>
            <a:ext cx="5986462" cy="1200329"/>
          </a:xfrm>
          <a:prstGeom prst="rect">
            <a:avLst/>
          </a:prstGeom>
          <a:noFill/>
        </p:spPr>
        <p:txBody>
          <a:bodyPr wrap="square" rtlCol="0">
            <a:spAutoFit/>
          </a:bodyPr>
          <a:lstStyle/>
          <a:p>
            <a:pPr algn="ctr"/>
            <a:r>
              <a:rPr lang="en-IN" sz="3600" dirty="0">
                <a:latin typeface="Times New Roman" panose="02020603050405020304" pitchFamily="18" charset="0"/>
                <a:cs typeface="Times New Roman" panose="02020603050405020304" pitchFamily="18" charset="0"/>
              </a:rPr>
              <a:t>HR ANALYTICS DASHBOARD </a:t>
            </a:r>
          </a:p>
        </p:txBody>
      </p:sp>
      <p:sp>
        <p:nvSpPr>
          <p:cNvPr id="3" name="TextBox 2">
            <a:extLst>
              <a:ext uri="{FF2B5EF4-FFF2-40B4-BE49-F238E27FC236}">
                <a16:creationId xmlns:a16="http://schemas.microsoft.com/office/drawing/2014/main" id="{DFC2F426-D2C5-5370-9555-3B0548E7DAFC}"/>
              </a:ext>
            </a:extLst>
          </p:cNvPr>
          <p:cNvSpPr txBox="1"/>
          <p:nvPr/>
        </p:nvSpPr>
        <p:spPr>
          <a:xfrm>
            <a:off x="4071938" y="1814513"/>
            <a:ext cx="5657850"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Capstone Project - </a:t>
            </a:r>
            <a:r>
              <a:rPr lang="en-IN" sz="3600" dirty="0" err="1">
                <a:latin typeface="Times New Roman" panose="02020603050405020304" pitchFamily="18" charset="0"/>
                <a:cs typeface="Times New Roman" panose="02020603050405020304" pitchFamily="18" charset="0"/>
              </a:rPr>
              <a:t>Datamites</a:t>
            </a:r>
            <a:endParaRPr lang="en-IN"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8B7A994-037C-8F6A-B0CC-60BB9C87F2E2}"/>
              </a:ext>
            </a:extLst>
          </p:cNvPr>
          <p:cNvSpPr txBox="1"/>
          <p:nvPr/>
        </p:nvSpPr>
        <p:spPr>
          <a:xfrm>
            <a:off x="4757738" y="2986087"/>
            <a:ext cx="5657850" cy="193899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Prepared By:</a:t>
            </a:r>
          </a:p>
          <a:p>
            <a:r>
              <a:rPr lang="en-IN" sz="2400" dirty="0">
                <a:latin typeface="Times New Roman" panose="02020603050405020304" pitchFamily="18" charset="0"/>
                <a:cs typeface="Times New Roman" panose="02020603050405020304" pitchFamily="18" charset="0"/>
              </a:rPr>
              <a:t>M FERDOUNE</a:t>
            </a:r>
          </a:p>
          <a:p>
            <a:r>
              <a:rPr lang="en-IN" sz="2400" b="1" dirty="0">
                <a:latin typeface="Times New Roman" panose="02020603050405020304" pitchFamily="18" charset="0"/>
                <a:cs typeface="Times New Roman" panose="02020603050405020304" pitchFamily="18" charset="0"/>
              </a:rPr>
              <a:t>Course:</a:t>
            </a:r>
            <a:r>
              <a:rPr lang="en-IN" sz="2400" dirty="0">
                <a:latin typeface="Times New Roman" panose="02020603050405020304" pitchFamily="18" charset="0"/>
                <a:cs typeface="Times New Roman" panose="02020603050405020304" pitchFamily="18" charset="0"/>
              </a:rPr>
              <a:t> Certified Data Analyst(CDA)</a:t>
            </a:r>
          </a:p>
          <a:p>
            <a:r>
              <a:rPr lang="en-IN" sz="2400" b="1" dirty="0">
                <a:latin typeface="Times New Roman" panose="02020603050405020304" pitchFamily="18" charset="0"/>
                <a:cs typeface="Times New Roman" panose="02020603050405020304" pitchFamily="18" charset="0"/>
              </a:rPr>
              <a:t>Batch:</a:t>
            </a:r>
            <a:r>
              <a:rPr lang="en-IN" sz="2400" dirty="0">
                <a:latin typeface="Times New Roman" panose="02020603050405020304" pitchFamily="18" charset="0"/>
                <a:cs typeface="Times New Roman" panose="02020603050405020304" pitchFamily="18" charset="0"/>
              </a:rPr>
              <a:t> Jan 5</a:t>
            </a:r>
          </a:p>
          <a:p>
            <a:r>
              <a:rPr lang="en-IN" sz="2400" b="1" dirty="0">
                <a:latin typeface="Times New Roman" panose="02020603050405020304" pitchFamily="18" charset="0"/>
                <a:cs typeface="Times New Roman" panose="02020603050405020304" pitchFamily="18" charset="0"/>
              </a:rPr>
              <a:t>Candidate Register No: </a:t>
            </a:r>
            <a:r>
              <a:rPr lang="en-IN" sz="2400" dirty="0">
                <a:latin typeface="Times New Roman" panose="02020603050405020304" pitchFamily="18" charset="0"/>
                <a:cs typeface="Times New Roman" panose="02020603050405020304" pitchFamily="18" charset="0"/>
              </a:rPr>
              <a:t>CA12202596950</a:t>
            </a:r>
          </a:p>
        </p:txBody>
      </p:sp>
    </p:spTree>
    <p:extLst>
      <p:ext uri="{BB962C8B-B14F-4D97-AF65-F5344CB8AC3E}">
        <p14:creationId xmlns:p14="http://schemas.microsoft.com/office/powerpoint/2010/main" val="2790380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81C4D-16FE-D0B3-75E7-1645E5DD2574}"/>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PROJECT OVERVIEW </a:t>
            </a:r>
          </a:p>
        </p:txBody>
      </p:sp>
      <p:sp>
        <p:nvSpPr>
          <p:cNvPr id="3" name="Content Placeholder 2">
            <a:extLst>
              <a:ext uri="{FF2B5EF4-FFF2-40B4-BE49-F238E27FC236}">
                <a16:creationId xmlns:a16="http://schemas.microsoft.com/office/drawing/2014/main" id="{16C5C05E-5DD7-FB1A-5D12-B6E63B025E62}"/>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This project focuses on analyzing employee workforce data using Power BI. The objective of the project is to analyze employee demographics, workforce distribution, hiring trends, department-wise distribution, and employee diversity using interactive dashboards and visualizations. The dashboard helps organizations make data-driven HR decisions and improve workforce planning.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591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D02E7-7DBA-D79F-C445-77354070D63E}"/>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1D49E866-8554-5A66-FA9F-18263FCD4A55}"/>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The objective of this project is to analyze HR employee data and derive meaningful insights related to employee distribution, hiring trends, remote working percentage, employee diversity, and departmental workforce structure. The project also aims to visualize HR data effectively using Power BI dashboards.</a:t>
            </a:r>
          </a:p>
          <a:p>
            <a:endParaRPr lang="en-IN" dirty="0"/>
          </a:p>
        </p:txBody>
      </p:sp>
    </p:spTree>
    <p:extLst>
      <p:ext uri="{BB962C8B-B14F-4D97-AF65-F5344CB8AC3E}">
        <p14:creationId xmlns:p14="http://schemas.microsoft.com/office/powerpoint/2010/main" val="205429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09A69-7FBF-B751-B7E2-6DD317906ADC}"/>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Dataset information</a:t>
            </a:r>
          </a:p>
        </p:txBody>
      </p:sp>
      <p:sp>
        <p:nvSpPr>
          <p:cNvPr id="3" name="Content Placeholder 2">
            <a:extLst>
              <a:ext uri="{FF2B5EF4-FFF2-40B4-BE49-F238E27FC236}">
                <a16:creationId xmlns:a16="http://schemas.microsoft.com/office/drawing/2014/main" id="{3E6EE81B-FED7-96E6-0FE6-DE09C07CE7BF}"/>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Dataset Name: </a:t>
            </a:r>
            <a:r>
              <a:rPr lang="en-US" dirty="0">
                <a:latin typeface="Times New Roman" panose="02020603050405020304" pitchFamily="18" charset="0"/>
                <a:cs typeface="Times New Roman" panose="02020603050405020304" pitchFamily="18" charset="0"/>
              </a:rPr>
              <a:t>HR Analytics Dataset</a:t>
            </a:r>
          </a:p>
          <a:p>
            <a:r>
              <a:rPr lang="en-US" b="1" dirty="0">
                <a:latin typeface="Times New Roman" panose="02020603050405020304" pitchFamily="18" charset="0"/>
                <a:cs typeface="Times New Roman" panose="02020603050405020304" pitchFamily="18" charset="0"/>
              </a:rPr>
              <a:t>Total Records:</a:t>
            </a:r>
            <a:r>
              <a:rPr lang="en-US" dirty="0">
                <a:latin typeface="Times New Roman" panose="02020603050405020304" pitchFamily="18" charset="0"/>
                <a:cs typeface="Times New Roman" panose="02020603050405020304" pitchFamily="18" charset="0"/>
              </a:rPr>
              <a:t> 22,214</a:t>
            </a:r>
          </a:p>
          <a:p>
            <a:r>
              <a:rPr lang="en-US" b="1" dirty="0">
                <a:latin typeface="Times New Roman" panose="02020603050405020304" pitchFamily="18" charset="0"/>
                <a:cs typeface="Times New Roman" panose="02020603050405020304" pitchFamily="18" charset="0"/>
              </a:rPr>
              <a:t>Total Columns</a:t>
            </a:r>
            <a:r>
              <a:rPr lang="en-US" dirty="0">
                <a:latin typeface="Times New Roman" panose="02020603050405020304" pitchFamily="18" charset="0"/>
                <a:cs typeface="Times New Roman" panose="02020603050405020304" pitchFamily="18" charset="0"/>
              </a:rPr>
              <a:t>: 13</a:t>
            </a:r>
          </a:p>
          <a:p>
            <a:pPr marL="0" indent="0">
              <a:buNone/>
            </a:pPr>
            <a:r>
              <a:rPr lang="en-IN" b="1" dirty="0">
                <a:latin typeface="Times New Roman" panose="02020603050405020304" pitchFamily="18" charset="0"/>
                <a:cs typeface="Times New Roman" panose="02020603050405020304" pitchFamily="18" charset="0"/>
              </a:rPr>
              <a:t>Important Attributes:</a:t>
            </a:r>
          </a:p>
          <a:p>
            <a:r>
              <a:rPr lang="en-US" dirty="0">
                <a:latin typeface="Times New Roman" panose="02020603050405020304" pitchFamily="18" charset="0"/>
                <a:cs typeface="Times New Roman" panose="02020603050405020304" pitchFamily="18" charset="0"/>
              </a:rPr>
              <a:t>Employee ID</a:t>
            </a:r>
          </a:p>
          <a:p>
            <a:r>
              <a:rPr lang="en-US" dirty="0">
                <a:latin typeface="Times New Roman" panose="02020603050405020304" pitchFamily="18" charset="0"/>
                <a:cs typeface="Times New Roman" panose="02020603050405020304" pitchFamily="18" charset="0"/>
              </a:rPr>
              <a:t>First Name</a:t>
            </a:r>
          </a:p>
          <a:p>
            <a:r>
              <a:rPr lang="en-US" dirty="0">
                <a:latin typeface="Times New Roman" panose="02020603050405020304" pitchFamily="18" charset="0"/>
                <a:cs typeface="Times New Roman" panose="02020603050405020304" pitchFamily="18" charset="0"/>
              </a:rPr>
              <a:t>Last Name</a:t>
            </a:r>
          </a:p>
          <a:p>
            <a:endParaRPr lang="en-IN" dirty="0"/>
          </a:p>
          <a:p>
            <a:pPr marL="0" indent="0">
              <a:buNone/>
            </a:pPr>
            <a:endParaRPr lang="en-US" dirty="0"/>
          </a:p>
          <a:p>
            <a:endParaRPr lang="en-IN" dirty="0"/>
          </a:p>
        </p:txBody>
      </p:sp>
      <p:sp>
        <p:nvSpPr>
          <p:cNvPr id="5" name="TextBox 4">
            <a:extLst>
              <a:ext uri="{FF2B5EF4-FFF2-40B4-BE49-F238E27FC236}">
                <a16:creationId xmlns:a16="http://schemas.microsoft.com/office/drawing/2014/main" id="{3ED1BD23-28C7-CA63-6E29-F94812D6562E}"/>
              </a:ext>
            </a:extLst>
          </p:cNvPr>
          <p:cNvSpPr txBox="1"/>
          <p:nvPr/>
        </p:nvSpPr>
        <p:spPr>
          <a:xfrm>
            <a:off x="7329488" y="2171377"/>
            <a:ext cx="3853953" cy="3139321"/>
          </a:xfrm>
          <a:prstGeom prst="rect">
            <a:avLst/>
          </a:prstGeom>
          <a:noFill/>
        </p:spPr>
        <p:txBody>
          <a:bodyPr wrap="square" rtlCol="0">
            <a:spAutoFit/>
          </a:bodyPr>
          <a:lstStyle/>
          <a:p>
            <a:pPr marL="285750" indent="-285750">
              <a:buClr>
                <a:srgbClr val="C00000"/>
              </a:buClr>
              <a:buFont typeface="Arial" panose="020B0604020202020204" pitchFamily="34" charset="0"/>
              <a:buChar char="•"/>
            </a:pPr>
            <a:r>
              <a:rPr lang="en-US" dirty="0"/>
              <a:t>Birthdate</a:t>
            </a:r>
          </a:p>
          <a:p>
            <a:pPr marL="285750" indent="-285750">
              <a:buClr>
                <a:srgbClr val="C00000"/>
              </a:buClr>
              <a:buFont typeface="Arial" panose="020B0604020202020204" pitchFamily="34" charset="0"/>
              <a:buChar char="•"/>
            </a:pPr>
            <a:r>
              <a:rPr lang="en-US" dirty="0"/>
              <a:t>Age</a:t>
            </a:r>
          </a:p>
          <a:p>
            <a:pPr marL="285750" indent="-285750">
              <a:buClr>
                <a:srgbClr val="C00000"/>
              </a:buClr>
              <a:buFont typeface="Arial" panose="020B0604020202020204" pitchFamily="34" charset="0"/>
              <a:buChar char="•"/>
            </a:pPr>
            <a:r>
              <a:rPr lang="en-US" dirty="0"/>
              <a:t> Gender</a:t>
            </a:r>
          </a:p>
          <a:p>
            <a:pPr marL="285750" indent="-285750">
              <a:buClr>
                <a:srgbClr val="C00000"/>
              </a:buClr>
              <a:buFont typeface="Arial" panose="020B0604020202020204" pitchFamily="34" charset="0"/>
              <a:buChar char="•"/>
            </a:pPr>
            <a:r>
              <a:rPr lang="en-US" dirty="0"/>
              <a:t> Race</a:t>
            </a:r>
          </a:p>
          <a:p>
            <a:pPr marL="285750" indent="-285750">
              <a:buClr>
                <a:srgbClr val="C00000"/>
              </a:buClr>
              <a:buFont typeface="Arial" panose="020B0604020202020204" pitchFamily="34" charset="0"/>
              <a:buChar char="•"/>
            </a:pPr>
            <a:r>
              <a:rPr lang="en-US" dirty="0"/>
              <a:t> Department</a:t>
            </a:r>
          </a:p>
          <a:p>
            <a:pPr marL="285750" indent="-285750">
              <a:buClr>
                <a:srgbClr val="C00000"/>
              </a:buClr>
              <a:buFont typeface="Arial" panose="020B0604020202020204" pitchFamily="34" charset="0"/>
              <a:buChar char="•"/>
            </a:pPr>
            <a:r>
              <a:rPr lang="en-US" dirty="0"/>
              <a:t> Job Title</a:t>
            </a:r>
          </a:p>
          <a:p>
            <a:pPr marL="285750" indent="-285750">
              <a:buClr>
                <a:srgbClr val="C00000"/>
              </a:buClr>
              <a:buFont typeface="Arial" panose="020B0604020202020204" pitchFamily="34" charset="0"/>
              <a:buChar char="•"/>
            </a:pPr>
            <a:r>
              <a:rPr lang="en-US" dirty="0"/>
              <a:t> Location</a:t>
            </a:r>
          </a:p>
          <a:p>
            <a:pPr marL="285750" indent="-285750">
              <a:buClr>
                <a:srgbClr val="C00000"/>
              </a:buClr>
              <a:buFont typeface="Arial" panose="020B0604020202020204" pitchFamily="34" charset="0"/>
              <a:buChar char="•"/>
            </a:pPr>
            <a:r>
              <a:rPr lang="en-US" dirty="0"/>
              <a:t> Hire Date</a:t>
            </a:r>
          </a:p>
          <a:p>
            <a:pPr marL="285750" indent="-285750">
              <a:buClr>
                <a:srgbClr val="C00000"/>
              </a:buClr>
              <a:buFont typeface="Arial" panose="020B0604020202020204" pitchFamily="34" charset="0"/>
              <a:buChar char="•"/>
            </a:pPr>
            <a:r>
              <a:rPr lang="en-US" dirty="0"/>
              <a:t> Location City</a:t>
            </a:r>
          </a:p>
          <a:p>
            <a:pPr marL="285750" indent="-285750">
              <a:buClr>
                <a:srgbClr val="C00000"/>
              </a:buClr>
              <a:buFont typeface="Arial" panose="020B0604020202020204" pitchFamily="34" charset="0"/>
              <a:buChar char="•"/>
            </a:pPr>
            <a:r>
              <a:rPr lang="en-US" dirty="0"/>
              <a:t> Location State</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316382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20108-3401-43B2-D49C-2D9558CE6BC5}"/>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TOOLS AND TECHNOLOGIES </a:t>
            </a:r>
            <a:br>
              <a:rPr lang="en-IN" sz="2400" b="1"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B6B984-8811-A59C-E3DB-956D76B59F43}"/>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Power BI</a:t>
            </a:r>
          </a:p>
          <a:p>
            <a:r>
              <a:rPr lang="en-US" sz="2400" dirty="0">
                <a:latin typeface="Times New Roman" panose="02020603050405020304" pitchFamily="18" charset="0"/>
                <a:cs typeface="Times New Roman" panose="02020603050405020304" pitchFamily="18" charset="0"/>
              </a:rPr>
              <a:t>MySQL Database</a:t>
            </a:r>
          </a:p>
          <a:p>
            <a:r>
              <a:rPr lang="en-US" sz="2400" dirty="0">
                <a:latin typeface="Times New Roman" panose="02020603050405020304" pitchFamily="18" charset="0"/>
                <a:cs typeface="Times New Roman" panose="02020603050405020304" pitchFamily="18" charset="0"/>
              </a:rPr>
              <a:t>DAX Functions</a:t>
            </a:r>
          </a:p>
          <a:p>
            <a:r>
              <a:rPr lang="en-US" sz="2400" dirty="0">
                <a:latin typeface="Times New Roman" panose="02020603050405020304" pitchFamily="18" charset="0"/>
                <a:cs typeface="Times New Roman" panose="02020603050405020304" pitchFamily="18" charset="0"/>
              </a:rPr>
              <a:t>Data Visualization</a:t>
            </a:r>
          </a:p>
          <a:p>
            <a:pPr algn="just"/>
            <a:r>
              <a:rPr lang="en-US" sz="2400" dirty="0">
                <a:latin typeface="Times New Roman" panose="02020603050405020304" pitchFamily="18" charset="0"/>
                <a:cs typeface="Times New Roman" panose="02020603050405020304" pitchFamily="18" charset="0"/>
              </a:rPr>
              <a:t>Data Cleaning &amp; Transformation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1741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00107-E907-8197-AC0F-A18822A1A6C8}"/>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Key performance indicator (</a:t>
            </a:r>
            <a:r>
              <a:rPr lang="en-IN" sz="2400" b="1" dirty="0" err="1">
                <a:latin typeface="Times New Roman" panose="02020603050405020304" pitchFamily="18" charset="0"/>
                <a:cs typeface="Times New Roman" panose="02020603050405020304" pitchFamily="18" charset="0"/>
              </a:rPr>
              <a:t>kpi</a:t>
            </a:r>
            <a:r>
              <a:rPr lang="en-IN" sz="2400" b="1" dirty="0">
                <a:latin typeface="Times New Roman" panose="02020603050405020304" pitchFamily="18" charset="0"/>
                <a:cs typeface="Times New Roman" panose="02020603050405020304" pitchFamily="18" charset="0"/>
              </a:rPr>
              <a:t>)</a:t>
            </a:r>
          </a:p>
        </p:txBody>
      </p:sp>
      <p:pic>
        <p:nvPicPr>
          <p:cNvPr id="5" name="Content Placeholder 4">
            <a:extLst>
              <a:ext uri="{FF2B5EF4-FFF2-40B4-BE49-F238E27FC236}">
                <a16:creationId xmlns:a16="http://schemas.microsoft.com/office/drawing/2014/main" id="{B540DFEE-8B9A-F92D-E094-6DF369CD6AF7}"/>
              </a:ext>
            </a:extLst>
          </p:cNvPr>
          <p:cNvPicPr>
            <a:picLocks noGrp="1" noChangeAspect="1"/>
          </p:cNvPicPr>
          <p:nvPr>
            <p:ph idx="1"/>
          </p:nvPr>
        </p:nvPicPr>
        <p:blipFill>
          <a:blip r:embed="rId2"/>
          <a:stretch>
            <a:fillRect/>
          </a:stretch>
        </p:blipFill>
        <p:spPr>
          <a:xfrm>
            <a:off x="1656760" y="1952419"/>
            <a:ext cx="8449854" cy="3051828"/>
          </a:xfrm>
          <a:prstGeom prst="rect">
            <a:avLst/>
          </a:prstGeom>
        </p:spPr>
      </p:pic>
    </p:spTree>
    <p:extLst>
      <p:ext uri="{BB962C8B-B14F-4D97-AF65-F5344CB8AC3E}">
        <p14:creationId xmlns:p14="http://schemas.microsoft.com/office/powerpoint/2010/main" val="2780023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1CAD9-ABB1-9ECA-2C2E-FE3FF41EFA7E}"/>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KPI Explanation</a:t>
            </a:r>
          </a:p>
        </p:txBody>
      </p:sp>
      <p:sp>
        <p:nvSpPr>
          <p:cNvPr id="3" name="Content Placeholder 2">
            <a:extLst>
              <a:ext uri="{FF2B5EF4-FFF2-40B4-BE49-F238E27FC236}">
                <a16:creationId xmlns:a16="http://schemas.microsoft.com/office/drawing/2014/main" id="{4EF710A2-38C6-1F7B-E8EA-1BB358D36FB2}"/>
              </a:ext>
            </a:extLst>
          </p:cNvPr>
          <p:cNvSpPr>
            <a:spLocks noGrp="1"/>
          </p:cNvSpPr>
          <p:nvPr>
            <p:ph idx="1"/>
          </p:nvPr>
        </p:nvSpPr>
        <p:spPr/>
        <p:txBody>
          <a:bodyPr>
            <a:normAutofit fontScale="92500" lnSpcReduction="10000"/>
          </a:bodyPr>
          <a:lstStyle/>
          <a:p>
            <a:pPr algn="just"/>
            <a:r>
              <a:rPr lang="en-US" sz="2400" dirty="0">
                <a:latin typeface="Times New Roman" panose="02020603050405020304" pitchFamily="18" charset="0"/>
                <a:cs typeface="Times New Roman" panose="02020603050405020304" pitchFamily="18" charset="0"/>
              </a:rPr>
              <a:t>The KPI section provides an overview of the organization’s workforce statistics. The company currently has approximately 22K employees. Around 24.75% of employees are working remotely, while 75.25% are working from headquarters locations. The average employee age is 38.43 years, indicating a balanced workforce consisting of experienced professionals and mid-level employees.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These KPIs help the HR department monitor workforce distribution, employee demographics, and remote working trends effectively.</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6782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F7F0-5197-E7BB-42F2-4AE52FB6A504}"/>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Dashboard visualization</a:t>
            </a:r>
          </a:p>
        </p:txBody>
      </p:sp>
      <p:sp>
        <p:nvSpPr>
          <p:cNvPr id="7" name="Content Placeholder 6">
            <a:extLst>
              <a:ext uri="{FF2B5EF4-FFF2-40B4-BE49-F238E27FC236}">
                <a16:creationId xmlns:a16="http://schemas.microsoft.com/office/drawing/2014/main" id="{55A7D21F-5E4F-48DF-911B-45641E5D9D4D}"/>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AAB13C74-6F15-56FF-8820-3BF81AF2F918}"/>
              </a:ext>
            </a:extLst>
          </p:cNvPr>
          <p:cNvPicPr>
            <a:picLocks noChangeAspect="1"/>
          </p:cNvPicPr>
          <p:nvPr/>
        </p:nvPicPr>
        <p:blipFill>
          <a:blip r:embed="rId2"/>
          <a:stretch>
            <a:fillRect/>
          </a:stretch>
        </p:blipFill>
        <p:spPr>
          <a:xfrm>
            <a:off x="1451580" y="1853754"/>
            <a:ext cx="9603274" cy="3961591"/>
          </a:xfrm>
          <a:prstGeom prst="rect">
            <a:avLst/>
          </a:prstGeom>
        </p:spPr>
      </p:pic>
    </p:spTree>
    <p:extLst>
      <p:ext uri="{BB962C8B-B14F-4D97-AF65-F5344CB8AC3E}">
        <p14:creationId xmlns:p14="http://schemas.microsoft.com/office/powerpoint/2010/main" val="516628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19296-8842-3CC5-ADEB-BAD2A0696911}"/>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Dashboard explanation</a:t>
            </a:r>
            <a:br>
              <a:rPr lang="en-IN" sz="2400" b="1"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BE2610-FAAD-DAA9-24D4-465A8FF09ED8}"/>
              </a:ext>
            </a:extLst>
          </p:cNvPr>
          <p:cNvSpPr>
            <a:spLocks noGrp="1"/>
          </p:cNvSpPr>
          <p:nvPr>
            <p:ph idx="1"/>
          </p:nvPr>
        </p:nvSpPr>
        <p:spPr/>
        <p:txBody>
          <a:bodyPr>
            <a:normAutofit fontScale="92500" lnSpcReduction="10000"/>
          </a:bodyPr>
          <a:lstStyle/>
          <a:p>
            <a:pPr algn="just"/>
            <a:r>
              <a:rPr lang="en-US" sz="2200" dirty="0">
                <a:latin typeface="Times New Roman" panose="02020603050405020304" pitchFamily="18" charset="0"/>
                <a:cs typeface="Times New Roman" panose="02020603050405020304" pitchFamily="18" charset="0"/>
              </a:rPr>
              <a:t>The HR Analytics Dashboard provides a complete overview of employee workforce distribution and hiring trends using interactive visualizations. The line chart represents employee hiring trends over the years, showing stable hiring growth across the organization. The donut chart illustrates gender distribution among employees, while the bar charts represent employee distribution by department, state, and race.</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The dashboard also includes interactive filters that allow users to analyze workforce data dynamically by state. These visualizations help HR teams understand workforce diversity, employee allocation, and departmental structure effectively.</a:t>
            </a:r>
          </a:p>
          <a:p>
            <a:endParaRPr lang="en-IN" dirty="0"/>
          </a:p>
        </p:txBody>
      </p:sp>
    </p:spTree>
    <p:extLst>
      <p:ext uri="{BB962C8B-B14F-4D97-AF65-F5344CB8AC3E}">
        <p14:creationId xmlns:p14="http://schemas.microsoft.com/office/powerpoint/2010/main" val="511760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F3060-12D9-5C14-CA85-CE564CE10987}"/>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Key insights </a:t>
            </a:r>
          </a:p>
        </p:txBody>
      </p:sp>
      <p:sp>
        <p:nvSpPr>
          <p:cNvPr id="3" name="Content Placeholder 2">
            <a:extLst>
              <a:ext uri="{FF2B5EF4-FFF2-40B4-BE49-F238E27FC236}">
                <a16:creationId xmlns:a16="http://schemas.microsoft.com/office/drawing/2014/main" id="{78FA18A2-9E1E-FE85-6F75-AD6C8CA61122}"/>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 The majority of employees work from Headquarters</a:t>
            </a:r>
          </a:p>
          <a:p>
            <a:r>
              <a:rPr lang="en-US" sz="2400" dirty="0">
                <a:latin typeface="Times New Roman" panose="02020603050405020304" pitchFamily="18" charset="0"/>
                <a:cs typeface="Times New Roman" panose="02020603050405020304" pitchFamily="18" charset="0"/>
              </a:rPr>
              <a:t> The engineering department has the highest number of employees</a:t>
            </a:r>
          </a:p>
          <a:p>
            <a:r>
              <a:rPr lang="en-US" sz="2400" dirty="0">
                <a:latin typeface="Times New Roman" panose="02020603050405020304" pitchFamily="18" charset="0"/>
                <a:cs typeface="Times New Roman" panose="02020603050405020304" pitchFamily="18" charset="0"/>
              </a:rPr>
              <a:t>Male employees are slightly higher than female employees</a:t>
            </a:r>
          </a:p>
          <a:p>
            <a:r>
              <a:rPr lang="en-US" sz="2400" dirty="0">
                <a:latin typeface="Times New Roman" panose="02020603050405020304" pitchFamily="18" charset="0"/>
                <a:cs typeface="Times New Roman" panose="02020603050405020304" pitchFamily="18" charset="0"/>
              </a:rPr>
              <a:t>Ohio has the highest workforce distribution</a:t>
            </a:r>
          </a:p>
          <a:p>
            <a:r>
              <a:rPr lang="en-US" sz="2400" dirty="0">
                <a:latin typeface="Times New Roman" panose="02020603050405020304" pitchFamily="18" charset="0"/>
                <a:cs typeface="Times New Roman" panose="02020603050405020304" pitchFamily="18" charset="0"/>
              </a:rPr>
              <a:t>Hiring remained stable over the years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4509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3F8C-5AF6-C163-D2BE-2822EBAAD8FD}"/>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suggestions</a:t>
            </a:r>
          </a:p>
        </p:txBody>
      </p:sp>
      <p:sp>
        <p:nvSpPr>
          <p:cNvPr id="3" name="Content Placeholder 2">
            <a:extLst>
              <a:ext uri="{FF2B5EF4-FFF2-40B4-BE49-F238E27FC236}">
                <a16:creationId xmlns:a16="http://schemas.microsoft.com/office/drawing/2014/main" id="{90D67B10-5839-3B57-CBED-7152C8D24185}"/>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Improve workforce diversity</a:t>
            </a:r>
          </a:p>
          <a:p>
            <a:r>
              <a:rPr lang="en-US" sz="2400" dirty="0">
                <a:latin typeface="Times New Roman" panose="02020603050405020304" pitchFamily="18" charset="0"/>
                <a:cs typeface="Times New Roman" panose="02020603050405020304" pitchFamily="18" charset="0"/>
              </a:rPr>
              <a:t>Increase remote workforce flexibility</a:t>
            </a:r>
          </a:p>
          <a:p>
            <a:r>
              <a:rPr lang="en-US" sz="2400" dirty="0">
                <a:latin typeface="Times New Roman" panose="02020603050405020304" pitchFamily="18" charset="0"/>
                <a:cs typeface="Times New Roman" panose="02020603050405020304" pitchFamily="18" charset="0"/>
              </a:rPr>
              <a:t>Maintain balanced hiring strategy</a:t>
            </a:r>
          </a:p>
          <a:p>
            <a:r>
              <a:rPr lang="en-US" sz="2400" dirty="0">
                <a:latin typeface="Times New Roman" panose="02020603050405020304" pitchFamily="18" charset="0"/>
                <a:cs typeface="Times New Roman" panose="02020603050405020304" pitchFamily="18" charset="0"/>
              </a:rPr>
              <a:t>Improve employee engagement programs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7290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AF3EF-D61C-64A1-6A23-088B88189C9F}"/>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8EC54C8-774B-84B6-16E8-1D5CF0DD8358}"/>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HR Analytics Dashboard successfully analyzed employee workforce data and generated meaningful business insights using Power BI. The dashboard helps organizations understand workforce distribution, employee diversity, hiring trends, and departmental structure. This project demonstrates how data visualization can support effective HR decision-making.</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895522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63</TotalTime>
  <Words>490</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Gill Sans MT</vt:lpstr>
      <vt:lpstr>Times New Roman</vt:lpstr>
      <vt:lpstr>Gallery</vt:lpstr>
      <vt:lpstr>PowerPoint Presentation</vt:lpstr>
      <vt:lpstr>PROJECT OVERVIEW </vt:lpstr>
      <vt:lpstr>PROBLEM STATEMENT</vt:lpstr>
      <vt:lpstr>Dataset information</vt:lpstr>
      <vt:lpstr>TOOLS AND TECHNOLOGIES  </vt:lpstr>
      <vt:lpstr>Key performance indicator (kpi)</vt:lpstr>
      <vt:lpstr>KPI Explanation</vt:lpstr>
      <vt:lpstr>Dashboard visualization</vt:lpstr>
      <vt:lpstr>Dashboard explanation </vt:lpstr>
      <vt:lpstr>Key insights </vt:lpstr>
      <vt:lpstr>suggestions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Shanthi Marie Mandjiny</dc:creator>
  <cp:lastModifiedBy>Shanthi Marie Mandjiny</cp:lastModifiedBy>
  <cp:revision>4</cp:revision>
  <dcterms:created xsi:type="dcterms:W3CDTF">2026-05-28T15:43:40Z</dcterms:created>
  <dcterms:modified xsi:type="dcterms:W3CDTF">2026-05-28T16:47:09Z</dcterms:modified>
</cp:coreProperties>
</file>